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65" r:id="rId5"/>
    <p:sldId id="259" r:id="rId6"/>
    <p:sldId id="262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E254-E46C-9E95-127E-397FD1A0F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7029" y="1082382"/>
            <a:ext cx="6483096" cy="2346618"/>
          </a:xfrm>
        </p:spPr>
        <p:txBody>
          <a:bodyPr>
            <a:noAutofit/>
          </a:bodyPr>
          <a:lstStyle/>
          <a:p>
            <a:r>
              <a:rPr lang="en-US" sz="5000" b="1"/>
              <a:t>BMT103 ALGORİTMA  VE  PROGRAMLAMAYA GİRİŞ </a:t>
            </a:r>
            <a:r>
              <a:rPr lang="tr-TR" sz="5000" b="1"/>
              <a:t> </a:t>
            </a:r>
            <a:r>
              <a:rPr lang="en-US" sz="5000" b="1"/>
              <a:t>PROJE</a:t>
            </a:r>
            <a:r>
              <a:rPr lang="tr-TR" sz="5000" b="1"/>
              <a:t> SUNUMU</a:t>
            </a:r>
            <a:r>
              <a:rPr lang="en-US" sz="5000" b="1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A98FC-546E-C6E1-9C65-76076DF20CE2}"/>
              </a:ext>
            </a:extLst>
          </p:cNvPr>
          <p:cNvSpPr txBox="1"/>
          <p:nvPr/>
        </p:nvSpPr>
        <p:spPr>
          <a:xfrm>
            <a:off x="4032504" y="3441680"/>
            <a:ext cx="6858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/>
              <a:t>Grup Üyeleri</a:t>
            </a:r>
            <a:endParaRPr lang="en-US"/>
          </a:p>
          <a:p>
            <a:r>
              <a:rPr lang="en-US" b="1"/>
              <a:t> </a:t>
            </a:r>
            <a:endParaRPr lang="en-US"/>
          </a:p>
          <a:p>
            <a:r>
              <a:rPr lang="en-US" b="1"/>
              <a:t>Muhammet Furkan Yalçın</a:t>
            </a:r>
            <a:endParaRPr lang="en-US"/>
          </a:p>
          <a:p>
            <a:r>
              <a:rPr lang="en-US" b="1" err="1"/>
              <a:t>Tahaberk</a:t>
            </a:r>
            <a:r>
              <a:rPr lang="en-US" b="1"/>
              <a:t> Alpaslan</a:t>
            </a:r>
            <a:endParaRPr lang="en-US"/>
          </a:p>
          <a:p>
            <a:r>
              <a:rPr lang="en-US" b="1"/>
              <a:t>Eyyub Güler</a:t>
            </a:r>
            <a:endParaRPr lang="tr-TR" b="1"/>
          </a:p>
          <a:p>
            <a:endParaRPr lang="tr-TR" b="1"/>
          </a:p>
          <a:p>
            <a:r>
              <a:rPr lang="en-GB" b="1" err="1"/>
              <a:t>Öğretim</a:t>
            </a:r>
            <a:r>
              <a:rPr lang="en-GB" b="1"/>
              <a:t> </a:t>
            </a:r>
            <a:r>
              <a:rPr lang="en-GB" b="1" err="1"/>
              <a:t>Üyeleri</a:t>
            </a:r>
            <a:endParaRPr lang="tr-TR" b="1"/>
          </a:p>
          <a:p>
            <a:endParaRPr lang="en-US"/>
          </a:p>
          <a:p>
            <a:r>
              <a:rPr lang="en-GB" err="1"/>
              <a:t>Doç</a:t>
            </a:r>
            <a:r>
              <a:rPr lang="en-GB"/>
              <a:t>. Dr. Murat DÖRTERLER</a:t>
            </a:r>
            <a:endParaRPr lang="en-US"/>
          </a:p>
          <a:p>
            <a:r>
              <a:rPr lang="en-GB"/>
              <a:t>Arş. </a:t>
            </a:r>
            <a:r>
              <a:rPr lang="en-GB" err="1"/>
              <a:t>Gör</a:t>
            </a:r>
            <a:r>
              <a:rPr lang="en-GB"/>
              <a:t>. Adem VAROL</a:t>
            </a:r>
            <a:endParaRPr lang="tr-TR" b="1"/>
          </a:p>
          <a:p>
            <a:r>
              <a:rPr lang="en-GB"/>
              <a:t>Arş. Gör. Büşra Duygu ÇELİK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88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54A96-DB22-F532-9503-BB6EA14C9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579120"/>
          </a:xfrm>
        </p:spPr>
        <p:txBody>
          <a:bodyPr>
            <a:noAutofit/>
          </a:bodyPr>
          <a:lstStyle/>
          <a:p>
            <a:r>
              <a:rPr lang="tr-TR" b="1"/>
              <a:t>Proje konusu </a:t>
            </a:r>
            <a:endParaRPr 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11E32-D38E-5B7B-37B4-E92CC370DC3A}"/>
              </a:ext>
            </a:extLst>
          </p:cNvPr>
          <p:cNvSpPr txBox="1"/>
          <p:nvPr/>
        </p:nvSpPr>
        <p:spPr>
          <a:xfrm>
            <a:off x="685801" y="1188721"/>
            <a:ext cx="10506455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/>
              <a:t>Dosya </a:t>
            </a:r>
            <a:r>
              <a:rPr lang="en-US" sz="2700" err="1"/>
              <a:t>sistemiyle</a:t>
            </a:r>
            <a:r>
              <a:rPr lang="en-US" sz="2700"/>
              <a:t> </a:t>
            </a:r>
            <a:r>
              <a:rPr lang="en-US" sz="2700" err="1"/>
              <a:t>çalışan</a:t>
            </a:r>
            <a:r>
              <a:rPr lang="en-US" sz="2700"/>
              <a:t> </a:t>
            </a:r>
            <a:r>
              <a:rPr lang="en-US" sz="2700" err="1"/>
              <a:t>aşı</a:t>
            </a:r>
            <a:r>
              <a:rPr lang="en-US" sz="2700"/>
              <a:t> </a:t>
            </a:r>
            <a:r>
              <a:rPr lang="en-US" sz="2700" err="1"/>
              <a:t>takip</a:t>
            </a:r>
            <a:r>
              <a:rPr lang="en-US" sz="2700"/>
              <a:t> </a:t>
            </a:r>
            <a:r>
              <a:rPr lang="en-US" sz="2700" err="1"/>
              <a:t>ve</a:t>
            </a:r>
            <a:r>
              <a:rPr lang="en-US" sz="2700"/>
              <a:t> </a:t>
            </a:r>
            <a:r>
              <a:rPr lang="en-US" sz="2700" err="1"/>
              <a:t>kontrol</a:t>
            </a:r>
            <a:r>
              <a:rPr lang="en-US" sz="2700"/>
              <a:t> sistemi</a:t>
            </a:r>
            <a:endParaRPr lang="tr-TR" sz="2700"/>
          </a:p>
          <a:p>
            <a:endParaRPr lang="tr-TR" sz="2000"/>
          </a:p>
          <a:p>
            <a:r>
              <a:rPr lang="tr-TR" sz="3000"/>
              <a:t>AMAÇ</a:t>
            </a:r>
          </a:p>
          <a:p>
            <a:endParaRPr lang="tr-TR" sz="3000"/>
          </a:p>
          <a:p>
            <a:r>
              <a:rPr lang="en-US" sz="2500"/>
              <a:t>Aile hekimliğinde takibi yapılan bir çocuğun d</a:t>
            </a:r>
            <a:r>
              <a:rPr lang="tr-TR" sz="2500"/>
              <a:t>o</a:t>
            </a:r>
            <a:r>
              <a:rPr lang="en-US" sz="2500"/>
              <a:t>ğ</a:t>
            </a:r>
            <a:r>
              <a:rPr lang="tr-TR" sz="2500"/>
              <a:t>u</a:t>
            </a:r>
            <a:r>
              <a:rPr lang="en-US" sz="2500"/>
              <a:t>mdan günümüze kadar yapılan tüm aşılar ve tarihleri </a:t>
            </a:r>
            <a:r>
              <a:rPr lang="en-US" sz="2500" b="1"/>
              <a:t>asil</a:t>
            </a:r>
            <a:r>
              <a:rPr lang="tr-TR" sz="2500" b="1"/>
              <a:t>ar.txt</a:t>
            </a:r>
            <a:r>
              <a:rPr lang="en-US" sz="2500"/>
              <a:t> dosyası iç</a:t>
            </a:r>
            <a:r>
              <a:rPr lang="tr-TR" sz="2500"/>
              <a:t>erisi</a:t>
            </a:r>
            <a:r>
              <a:rPr lang="en-US" sz="2500"/>
              <a:t>ne kayde</a:t>
            </a:r>
            <a:r>
              <a:rPr lang="tr-TR" sz="2500"/>
              <a:t>dilmiştir</a:t>
            </a:r>
            <a:r>
              <a:rPr lang="en-US" sz="2500"/>
              <a:t>.</a:t>
            </a:r>
            <a:r>
              <a:rPr lang="tr-TR" sz="2500"/>
              <a:t> </a:t>
            </a:r>
            <a:r>
              <a:rPr lang="en-US" sz="2500"/>
              <a:t>Çocuğa 14 yaşında gelene kadar zorunlu yapılması gereken tüm aşılar ve bunların kaç doz yapılacağı </a:t>
            </a:r>
            <a:r>
              <a:rPr lang="en-US" sz="2500" b="1"/>
              <a:t>zorunlu.txt</a:t>
            </a:r>
            <a:r>
              <a:rPr lang="en-US" sz="2500"/>
              <a:t> dosyasında bulunmaktadır. Zorunlu aşıların çocuğa kaç doz uygulandığını bularak </a:t>
            </a:r>
            <a:r>
              <a:rPr lang="tr-TR" sz="2500"/>
              <a:t>tamamlanmış</a:t>
            </a:r>
            <a:r>
              <a:rPr lang="en-US" sz="2500"/>
              <a:t> olanların yanına ‘+’ ,eksik olanlara ise ‘-’ işareti yazdırarak </a:t>
            </a:r>
            <a:r>
              <a:rPr lang="en-US" sz="2500" b="1"/>
              <a:t>dozlar.txt</a:t>
            </a:r>
            <a:r>
              <a:rPr lang="en-US" sz="2500"/>
              <a:t> dosyasına kaydeden C programı</a:t>
            </a:r>
            <a:r>
              <a:rPr lang="tr-TR" sz="2500"/>
              <a:t>nı</a:t>
            </a:r>
            <a:r>
              <a:rPr lang="en-US" sz="2500"/>
              <a:t> yazmak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21474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2E7CDE7-4656-6987-5DB8-F8A9F1825FC4}"/>
              </a:ext>
            </a:extLst>
          </p:cNvPr>
          <p:cNvSpPr/>
          <p:nvPr/>
        </p:nvSpPr>
        <p:spPr>
          <a:xfrm>
            <a:off x="860298" y="2256800"/>
            <a:ext cx="2542032" cy="38404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93E731-2B8F-4ADE-CBFB-2810798687B2}"/>
              </a:ext>
            </a:extLst>
          </p:cNvPr>
          <p:cNvSpPr/>
          <p:nvPr/>
        </p:nvSpPr>
        <p:spPr>
          <a:xfrm>
            <a:off x="4347972" y="2256800"/>
            <a:ext cx="2542032" cy="35260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A34817-1ADC-4F83-A311-B9E244F37326}"/>
              </a:ext>
            </a:extLst>
          </p:cNvPr>
          <p:cNvSpPr/>
          <p:nvPr/>
        </p:nvSpPr>
        <p:spPr>
          <a:xfrm>
            <a:off x="7834884" y="2256800"/>
            <a:ext cx="2542032" cy="32552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6D8057-B381-E110-BB36-EA88924B001D}"/>
              </a:ext>
            </a:extLst>
          </p:cNvPr>
          <p:cNvSpPr txBox="1"/>
          <p:nvPr/>
        </p:nvSpPr>
        <p:spPr>
          <a:xfrm>
            <a:off x="1028700" y="2468880"/>
            <a:ext cx="2258568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sz="2000" b="1">
                <a:solidFill>
                  <a:schemeClr val="bg1"/>
                </a:solidFill>
              </a:rPr>
              <a:t>Asilar.txt</a:t>
            </a:r>
          </a:p>
          <a:p>
            <a:endParaRPr lang="tr-TR" sz="2000" b="1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HepatitB </a:t>
            </a:r>
            <a:r>
              <a:rPr lang="tr-TR" sz="1600">
                <a:solidFill>
                  <a:schemeClr val="bg1"/>
                </a:solidFill>
              </a:rPr>
              <a:t> </a:t>
            </a:r>
            <a:r>
              <a:rPr lang="en-US" sz="1600">
                <a:solidFill>
                  <a:schemeClr val="bg1"/>
                </a:solidFill>
              </a:rPr>
              <a:t>22.08.2014</a:t>
            </a:r>
            <a:endParaRPr lang="tr-TR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HepatitB</a:t>
            </a:r>
            <a:r>
              <a:rPr lang="tr-TR" sz="1600">
                <a:solidFill>
                  <a:schemeClr val="bg1"/>
                </a:solidFill>
              </a:rPr>
              <a:t> </a:t>
            </a:r>
            <a:r>
              <a:rPr lang="en-US" sz="1600">
                <a:solidFill>
                  <a:schemeClr val="bg1"/>
                </a:solidFill>
              </a:rPr>
              <a:t> 22.09.2014</a:t>
            </a:r>
            <a:endParaRPr lang="tr-TR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BCG </a:t>
            </a:r>
            <a:r>
              <a:rPr lang="tr-TR" sz="1600">
                <a:solidFill>
                  <a:schemeClr val="bg1"/>
                </a:solidFill>
              </a:rPr>
              <a:t>         </a:t>
            </a:r>
            <a:r>
              <a:rPr lang="en-US" sz="1600">
                <a:solidFill>
                  <a:schemeClr val="bg1"/>
                </a:solidFill>
              </a:rPr>
              <a:t>22.10.2014</a:t>
            </a:r>
            <a:endParaRPr lang="tr-TR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DaBT </a:t>
            </a:r>
            <a:r>
              <a:rPr lang="tr-TR" sz="1600">
                <a:solidFill>
                  <a:schemeClr val="bg1"/>
                </a:solidFill>
              </a:rPr>
              <a:t>       </a:t>
            </a:r>
            <a:r>
              <a:rPr lang="en-US" sz="1600">
                <a:solidFill>
                  <a:schemeClr val="bg1"/>
                </a:solidFill>
              </a:rPr>
              <a:t>22.10.2014</a:t>
            </a:r>
            <a:endParaRPr lang="tr-TR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KPA </a:t>
            </a:r>
            <a:r>
              <a:rPr lang="tr-TR" sz="1600">
                <a:solidFill>
                  <a:schemeClr val="bg1"/>
                </a:solidFill>
              </a:rPr>
              <a:t>          </a:t>
            </a:r>
            <a:r>
              <a:rPr lang="en-US" sz="1600">
                <a:solidFill>
                  <a:schemeClr val="bg1"/>
                </a:solidFill>
              </a:rPr>
              <a:t>22.10.2014</a:t>
            </a:r>
            <a:endParaRPr lang="tr-TR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DaBT</a:t>
            </a:r>
            <a:r>
              <a:rPr lang="tr-TR" sz="1600">
                <a:solidFill>
                  <a:schemeClr val="bg1"/>
                </a:solidFill>
              </a:rPr>
              <a:t>        </a:t>
            </a:r>
            <a:r>
              <a:rPr lang="en-US" sz="1600">
                <a:solidFill>
                  <a:schemeClr val="bg1"/>
                </a:solidFill>
              </a:rPr>
              <a:t> 22.12.2014</a:t>
            </a:r>
            <a:endParaRPr lang="tr-TR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KPA </a:t>
            </a:r>
            <a:r>
              <a:rPr lang="tr-TR" sz="1600">
                <a:solidFill>
                  <a:schemeClr val="bg1"/>
                </a:solidFill>
              </a:rPr>
              <a:t>          </a:t>
            </a:r>
            <a:r>
              <a:rPr lang="en-US" sz="1600">
                <a:solidFill>
                  <a:schemeClr val="bg1"/>
                </a:solidFill>
              </a:rPr>
              <a:t>22.12.2014</a:t>
            </a:r>
            <a:endParaRPr lang="tr-TR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HepatitB </a:t>
            </a:r>
            <a:r>
              <a:rPr lang="tr-TR" sz="1600">
                <a:solidFill>
                  <a:schemeClr val="bg1"/>
                </a:solidFill>
              </a:rPr>
              <a:t> </a:t>
            </a:r>
            <a:r>
              <a:rPr lang="en-US" sz="1600">
                <a:solidFill>
                  <a:schemeClr val="bg1"/>
                </a:solidFill>
              </a:rPr>
              <a:t>22.02.2015</a:t>
            </a:r>
            <a:endParaRPr lang="tr-TR" sz="1600">
              <a:solidFill>
                <a:schemeClr val="bg1"/>
              </a:solidFill>
            </a:endParaRPr>
          </a:p>
          <a:p>
            <a:r>
              <a:rPr lang="tr-TR" sz="1600">
                <a:solidFill>
                  <a:schemeClr val="bg1"/>
                </a:solidFill>
              </a:rPr>
              <a:t>DaBT        22.02.2015</a:t>
            </a:r>
          </a:p>
          <a:p>
            <a:r>
              <a:rPr lang="tr-TR" sz="1600">
                <a:solidFill>
                  <a:schemeClr val="bg1"/>
                </a:solidFill>
              </a:rPr>
              <a:t>KKK           27.02.2015</a:t>
            </a:r>
          </a:p>
          <a:p>
            <a:r>
              <a:rPr lang="tr-TR" sz="1600">
                <a:solidFill>
                  <a:schemeClr val="bg1"/>
                </a:solidFill>
              </a:rPr>
              <a:t>OPA          11.03.1015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848B45-6687-78D2-3D66-738340CF7D6A}"/>
              </a:ext>
            </a:extLst>
          </p:cNvPr>
          <p:cNvSpPr txBox="1"/>
          <p:nvPr/>
        </p:nvSpPr>
        <p:spPr>
          <a:xfrm>
            <a:off x="4636770" y="2468880"/>
            <a:ext cx="2112264" cy="2985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sz="2000" b="1">
                <a:solidFill>
                  <a:schemeClr val="bg1"/>
                </a:solidFill>
              </a:rPr>
              <a:t>Zorunlu.txt</a:t>
            </a:r>
          </a:p>
          <a:p>
            <a:endParaRPr lang="tr-TR" sz="2000" b="1">
              <a:solidFill>
                <a:schemeClr val="bg1"/>
              </a:solidFill>
            </a:endParaRPr>
          </a:p>
          <a:p>
            <a:endParaRPr lang="tr-TR" sz="2000" b="1">
              <a:solidFill>
                <a:schemeClr val="bg1"/>
              </a:solidFill>
            </a:endParaRPr>
          </a:p>
          <a:p>
            <a:r>
              <a:rPr lang="tr-TR" sz="1600">
                <a:solidFill>
                  <a:schemeClr val="bg1"/>
                </a:solidFill>
              </a:rPr>
              <a:t>HepatitB       3</a:t>
            </a:r>
          </a:p>
          <a:p>
            <a:r>
              <a:rPr lang="tr-TR" sz="1600">
                <a:solidFill>
                  <a:schemeClr val="bg1"/>
                </a:solidFill>
              </a:rPr>
              <a:t>BCG               1</a:t>
            </a:r>
          </a:p>
          <a:p>
            <a:r>
              <a:rPr lang="tr-TR" sz="1600">
                <a:solidFill>
                  <a:schemeClr val="bg1"/>
                </a:solidFill>
              </a:rPr>
              <a:t>DaBT             4</a:t>
            </a:r>
          </a:p>
          <a:p>
            <a:r>
              <a:rPr lang="tr-TR" sz="1600">
                <a:solidFill>
                  <a:schemeClr val="bg1"/>
                </a:solidFill>
              </a:rPr>
              <a:t>KKK               2</a:t>
            </a:r>
          </a:p>
          <a:p>
            <a:r>
              <a:rPr lang="tr-TR" sz="1600">
                <a:solidFill>
                  <a:schemeClr val="bg1"/>
                </a:solidFill>
              </a:rPr>
              <a:t>DaBT-IPA      1</a:t>
            </a:r>
          </a:p>
          <a:p>
            <a:r>
              <a:rPr lang="tr-TR" sz="1600">
                <a:solidFill>
                  <a:schemeClr val="bg1"/>
                </a:solidFill>
              </a:rPr>
              <a:t>OPA               1</a:t>
            </a:r>
          </a:p>
          <a:p>
            <a:r>
              <a:rPr lang="tr-TR" sz="1600">
                <a:solidFill>
                  <a:schemeClr val="bg1"/>
                </a:solidFill>
              </a:rPr>
              <a:t>Td                  1</a:t>
            </a:r>
          </a:p>
          <a:p>
            <a:endParaRPr lang="tr-TR" sz="160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901936-9E3D-02A8-ADE8-3550CDFBE7F2}"/>
              </a:ext>
            </a:extLst>
          </p:cNvPr>
          <p:cNvSpPr txBox="1"/>
          <p:nvPr/>
        </p:nvSpPr>
        <p:spPr>
          <a:xfrm>
            <a:off x="7976616" y="2391715"/>
            <a:ext cx="2258568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>
                <a:solidFill>
                  <a:schemeClr val="bg1"/>
                </a:solidFill>
              </a:rPr>
              <a:t>          Dozlar.txt</a:t>
            </a:r>
          </a:p>
          <a:p>
            <a:endParaRPr lang="tr-TR" sz="2000" b="1">
              <a:solidFill>
                <a:schemeClr val="bg1"/>
              </a:solidFill>
            </a:endParaRPr>
          </a:p>
          <a:p>
            <a:endParaRPr lang="tr-TR" sz="2000" b="1">
              <a:solidFill>
                <a:schemeClr val="bg1"/>
              </a:solidFill>
            </a:endParaRPr>
          </a:p>
          <a:p>
            <a:r>
              <a:rPr lang="tr-TR" sz="1600">
                <a:solidFill>
                  <a:schemeClr val="bg1"/>
                </a:solidFill>
              </a:rPr>
              <a:t>HepatitB  3                  +</a:t>
            </a:r>
          </a:p>
          <a:p>
            <a:r>
              <a:rPr lang="tr-TR" sz="1600">
                <a:solidFill>
                  <a:schemeClr val="bg1"/>
                </a:solidFill>
              </a:rPr>
              <a:t>BCG          1                  +</a:t>
            </a:r>
          </a:p>
          <a:p>
            <a:r>
              <a:rPr lang="tr-TR" sz="1600">
                <a:solidFill>
                  <a:schemeClr val="bg1"/>
                </a:solidFill>
              </a:rPr>
              <a:t>DaBT         3                 -</a:t>
            </a:r>
          </a:p>
          <a:p>
            <a:r>
              <a:rPr lang="tr-TR" sz="1600">
                <a:solidFill>
                  <a:schemeClr val="bg1"/>
                </a:solidFill>
              </a:rPr>
              <a:t>KPA           2                  -</a:t>
            </a:r>
          </a:p>
          <a:p>
            <a:r>
              <a:rPr lang="tr-TR" sz="1600">
                <a:solidFill>
                  <a:schemeClr val="bg1"/>
                </a:solidFill>
              </a:rPr>
              <a:t>KKK           1                  -</a:t>
            </a:r>
          </a:p>
          <a:p>
            <a:r>
              <a:rPr lang="tr-TR" sz="1600">
                <a:solidFill>
                  <a:schemeClr val="bg1"/>
                </a:solidFill>
              </a:rPr>
              <a:t>DaBT-IPA 0                   -</a:t>
            </a:r>
          </a:p>
          <a:p>
            <a:r>
              <a:rPr lang="tr-TR" sz="1600">
                <a:solidFill>
                  <a:schemeClr val="bg1"/>
                </a:solidFill>
              </a:rPr>
              <a:t>OPA          1                  +</a:t>
            </a:r>
          </a:p>
          <a:p>
            <a:r>
              <a:rPr lang="tr-TR" sz="1600">
                <a:solidFill>
                  <a:schemeClr val="bg1"/>
                </a:solidFill>
              </a:rPr>
              <a:t>Td              0                 -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2053BD3-01D0-2A67-ABD5-174BB8842592}"/>
              </a:ext>
            </a:extLst>
          </p:cNvPr>
          <p:cNvSpPr/>
          <p:nvPr/>
        </p:nvSpPr>
        <p:spPr>
          <a:xfrm>
            <a:off x="6890004" y="3685031"/>
            <a:ext cx="945642" cy="55312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6DBB5A-F790-7407-2639-C268D58E3A39}"/>
              </a:ext>
            </a:extLst>
          </p:cNvPr>
          <p:cNvSpPr/>
          <p:nvPr/>
        </p:nvSpPr>
        <p:spPr>
          <a:xfrm>
            <a:off x="4265485" y="391577"/>
            <a:ext cx="2707005" cy="13631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A46A5-FAB2-50BD-CF77-BCBB4BBF8DDD}"/>
              </a:ext>
            </a:extLst>
          </p:cNvPr>
          <p:cNvSpPr txBox="1"/>
          <p:nvPr/>
        </p:nvSpPr>
        <p:spPr>
          <a:xfrm>
            <a:off x="4410074" y="766520"/>
            <a:ext cx="241782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sz="2400" b="1">
                <a:solidFill>
                  <a:schemeClr val="bg1"/>
                </a:solidFill>
              </a:rPr>
              <a:t>Struct (asiListesi)</a:t>
            </a:r>
          </a:p>
        </p:txBody>
      </p:sp>
      <p:sp>
        <p:nvSpPr>
          <p:cNvPr id="6" name="Arrow: Bent 5">
            <a:extLst>
              <a:ext uri="{FF2B5EF4-FFF2-40B4-BE49-F238E27FC236}">
                <a16:creationId xmlns:a16="http://schemas.microsoft.com/office/drawing/2014/main" id="{A431294C-8284-B23C-75DA-C120F5EA8F79}"/>
              </a:ext>
            </a:extLst>
          </p:cNvPr>
          <p:cNvSpPr/>
          <p:nvPr/>
        </p:nvSpPr>
        <p:spPr>
          <a:xfrm>
            <a:off x="1856232" y="760720"/>
            <a:ext cx="1728216" cy="1059821"/>
          </a:xfrm>
          <a:prstGeom prst="bentArrow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C4DBDC84-ABB4-78F8-CB75-B0E9F30C0573}"/>
              </a:ext>
            </a:extLst>
          </p:cNvPr>
          <p:cNvSpPr/>
          <p:nvPr/>
        </p:nvSpPr>
        <p:spPr>
          <a:xfrm rot="5400000">
            <a:off x="7949781" y="562474"/>
            <a:ext cx="1135708" cy="1728217"/>
          </a:xfrm>
          <a:prstGeom prst="bentArrow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466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540AD4-EBDA-498F-6A38-A432E4794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73" t="42934" r="62409" b="517"/>
          <a:stretch>
            <a:fillRect/>
          </a:stretch>
        </p:blipFill>
        <p:spPr>
          <a:xfrm>
            <a:off x="4892041" y="1234440"/>
            <a:ext cx="1991927" cy="9996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2D6D11-4E88-495C-E807-85C395BC5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1" y="3193934"/>
            <a:ext cx="5077534" cy="266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29904F-F157-99A1-28B6-9AF835A53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448" y="3903605"/>
            <a:ext cx="6020640" cy="2857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5D7849-ED7A-143A-32EA-29D22C8ED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6551" y="4642326"/>
            <a:ext cx="9202434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30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E86DF4-3E23-0626-F747-51C476A737BE}"/>
              </a:ext>
            </a:extLst>
          </p:cNvPr>
          <p:cNvSpPr/>
          <p:nvPr/>
        </p:nvSpPr>
        <p:spPr>
          <a:xfrm>
            <a:off x="2801112" y="5506772"/>
            <a:ext cx="2852928" cy="135312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C52FC5-77E7-9941-2033-022C97A0CCB2}"/>
              </a:ext>
            </a:extLst>
          </p:cNvPr>
          <p:cNvSpPr/>
          <p:nvPr/>
        </p:nvSpPr>
        <p:spPr>
          <a:xfrm>
            <a:off x="6001512" y="5504872"/>
            <a:ext cx="2852928" cy="135312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0B0C1D-5970-573C-FEDA-E1974B9ECDC1}"/>
              </a:ext>
            </a:extLst>
          </p:cNvPr>
          <p:cNvSpPr/>
          <p:nvPr/>
        </p:nvSpPr>
        <p:spPr>
          <a:xfrm>
            <a:off x="9339072" y="5529496"/>
            <a:ext cx="2852928" cy="135312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895696-6CBC-3921-44EB-A043465FA51B}"/>
              </a:ext>
            </a:extLst>
          </p:cNvPr>
          <p:cNvSpPr txBox="1"/>
          <p:nvPr/>
        </p:nvSpPr>
        <p:spPr>
          <a:xfrm>
            <a:off x="3063240" y="5603237"/>
            <a:ext cx="2432304" cy="1138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>
                <a:solidFill>
                  <a:schemeClr val="bg1"/>
                </a:solidFill>
              </a:rPr>
              <a:t>Struct (asiListesi)</a:t>
            </a:r>
          </a:p>
          <a:p>
            <a:endParaRPr lang="tr-TR" b="1">
              <a:solidFill>
                <a:schemeClr val="bg1"/>
              </a:solidFill>
            </a:endParaRPr>
          </a:p>
          <a:p>
            <a:r>
              <a:rPr lang="tr-TR" sz="1600">
                <a:solidFill>
                  <a:schemeClr val="bg1"/>
                </a:solidFill>
              </a:rPr>
              <a:t>HepatitB 1</a:t>
            </a:r>
          </a:p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A259560-13BD-A23C-D92B-EC1C4F66F3B2}"/>
              </a:ext>
            </a:extLst>
          </p:cNvPr>
          <p:cNvSpPr/>
          <p:nvPr/>
        </p:nvSpPr>
        <p:spPr>
          <a:xfrm>
            <a:off x="5306568" y="5982031"/>
            <a:ext cx="694944" cy="448056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2C34C-BFE9-772F-902A-D4A29BDCB31B}"/>
              </a:ext>
            </a:extLst>
          </p:cNvPr>
          <p:cNvSpPr txBox="1"/>
          <p:nvPr/>
        </p:nvSpPr>
        <p:spPr>
          <a:xfrm>
            <a:off x="6096000" y="5603236"/>
            <a:ext cx="2432304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>
                <a:solidFill>
                  <a:schemeClr val="bg1"/>
                </a:solidFill>
              </a:rPr>
              <a:t>Struct (asiListesi)</a:t>
            </a:r>
          </a:p>
          <a:p>
            <a:endParaRPr lang="tr-TR" b="1">
              <a:solidFill>
                <a:schemeClr val="bg1"/>
              </a:solidFill>
            </a:endParaRPr>
          </a:p>
          <a:p>
            <a:r>
              <a:rPr lang="tr-TR" sz="1600">
                <a:solidFill>
                  <a:schemeClr val="bg1"/>
                </a:solidFill>
              </a:rPr>
              <a:t>HepatitB 2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76DE0-40E6-B747-2770-3712186F4177}"/>
              </a:ext>
            </a:extLst>
          </p:cNvPr>
          <p:cNvSpPr txBox="1"/>
          <p:nvPr/>
        </p:nvSpPr>
        <p:spPr>
          <a:xfrm>
            <a:off x="9549384" y="5546539"/>
            <a:ext cx="2432304" cy="1138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>
                <a:solidFill>
                  <a:schemeClr val="bg1"/>
                </a:solidFill>
              </a:rPr>
              <a:t>Struct (asiListesi)</a:t>
            </a:r>
          </a:p>
          <a:p>
            <a:endParaRPr lang="tr-TR" b="1">
              <a:solidFill>
                <a:schemeClr val="bg1"/>
              </a:solidFill>
            </a:endParaRPr>
          </a:p>
          <a:p>
            <a:r>
              <a:rPr lang="tr-TR" sz="1600">
                <a:solidFill>
                  <a:schemeClr val="bg1"/>
                </a:solidFill>
              </a:rPr>
              <a:t>HepatitB 2</a:t>
            </a:r>
          </a:p>
          <a:p>
            <a:r>
              <a:rPr lang="tr-TR" sz="1600">
                <a:solidFill>
                  <a:schemeClr val="bg1"/>
                </a:solidFill>
              </a:rPr>
              <a:t>BCG 1 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C05B63A-828C-64F8-6825-5CBDADB17798}"/>
              </a:ext>
            </a:extLst>
          </p:cNvPr>
          <p:cNvSpPr/>
          <p:nvPr/>
        </p:nvSpPr>
        <p:spPr>
          <a:xfrm>
            <a:off x="8644128" y="5982031"/>
            <a:ext cx="694944" cy="448056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96656EC5-BCB3-0595-99E0-FDA2609A6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4152" y="0"/>
            <a:ext cx="12260303" cy="5488299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DDAF32-5D45-57F3-55C9-992255AE75C1}"/>
              </a:ext>
            </a:extLst>
          </p:cNvPr>
          <p:cNvSpPr/>
          <p:nvPr/>
        </p:nvSpPr>
        <p:spPr>
          <a:xfrm>
            <a:off x="1239774" y="5358185"/>
            <a:ext cx="1466850" cy="14998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3BEAE-2415-8D8E-FA1E-599F2DCE6CAB}"/>
              </a:ext>
            </a:extLst>
          </p:cNvPr>
          <p:cNvSpPr txBox="1"/>
          <p:nvPr/>
        </p:nvSpPr>
        <p:spPr>
          <a:xfrm>
            <a:off x="1317977" y="5408039"/>
            <a:ext cx="1309399" cy="14157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sz="1600" b="1">
                <a:solidFill>
                  <a:schemeClr val="bg1"/>
                </a:solidFill>
              </a:rPr>
              <a:t>Asilar.txt</a:t>
            </a:r>
          </a:p>
          <a:p>
            <a:endParaRPr lang="tr-TR" sz="2000" b="1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</a:rPr>
              <a:t>HepatitB </a:t>
            </a:r>
            <a:r>
              <a:rPr lang="tr-TR" sz="1000">
                <a:solidFill>
                  <a:schemeClr val="bg1"/>
                </a:solidFill>
              </a:rPr>
              <a:t> </a:t>
            </a:r>
            <a:r>
              <a:rPr lang="en-US" sz="1000">
                <a:solidFill>
                  <a:schemeClr val="bg1"/>
                </a:solidFill>
              </a:rPr>
              <a:t>22.08.2014</a:t>
            </a:r>
            <a:endParaRPr lang="tr-TR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</a:rPr>
              <a:t>HepatitB</a:t>
            </a:r>
            <a:r>
              <a:rPr lang="tr-TR" sz="1000">
                <a:solidFill>
                  <a:schemeClr val="bg1"/>
                </a:solidFill>
              </a:rPr>
              <a:t> </a:t>
            </a:r>
            <a:r>
              <a:rPr lang="en-US" sz="1000">
                <a:solidFill>
                  <a:schemeClr val="bg1"/>
                </a:solidFill>
              </a:rPr>
              <a:t> 22.09.2014</a:t>
            </a:r>
            <a:endParaRPr lang="tr-TR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</a:rPr>
              <a:t>BCG </a:t>
            </a:r>
            <a:r>
              <a:rPr lang="tr-TR" sz="1000">
                <a:solidFill>
                  <a:schemeClr val="bg1"/>
                </a:solidFill>
              </a:rPr>
              <a:t>         </a:t>
            </a:r>
            <a:r>
              <a:rPr lang="en-US" sz="1000">
                <a:solidFill>
                  <a:schemeClr val="bg1"/>
                </a:solidFill>
              </a:rPr>
              <a:t>22.10.2014</a:t>
            </a:r>
            <a:endParaRPr lang="tr-TR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</a:rPr>
              <a:t>DaBT </a:t>
            </a:r>
            <a:r>
              <a:rPr lang="tr-TR" sz="1000">
                <a:solidFill>
                  <a:schemeClr val="bg1"/>
                </a:solidFill>
              </a:rPr>
              <a:t>       </a:t>
            </a:r>
            <a:r>
              <a:rPr lang="en-US" sz="1000">
                <a:solidFill>
                  <a:schemeClr val="bg1"/>
                </a:solidFill>
              </a:rPr>
              <a:t>22.10.2014</a:t>
            </a:r>
            <a:endParaRPr lang="tr-TR" sz="1000">
              <a:solidFill>
                <a:schemeClr val="bg1"/>
              </a:solidFill>
            </a:endParaRPr>
          </a:p>
          <a:p>
            <a:r>
              <a:rPr lang="tr-TR" sz="1000">
                <a:solidFill>
                  <a:schemeClr val="bg1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68567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4FC975-01F6-E68D-72B5-6A5C97C39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4793"/>
          <a:stretch>
            <a:fillRect/>
          </a:stretch>
        </p:blipFill>
        <p:spPr>
          <a:xfrm>
            <a:off x="0" y="1773936"/>
            <a:ext cx="2927190" cy="507581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6779D8-333C-A43C-D5E9-0022881EF6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568"/>
          <a:stretch>
            <a:fillRect/>
          </a:stretch>
        </p:blipFill>
        <p:spPr>
          <a:xfrm>
            <a:off x="9252626" y="8250"/>
            <a:ext cx="2939373" cy="53227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78D460-38A9-1C30-426F-33EA3E2E5C99}"/>
              </a:ext>
            </a:extLst>
          </p:cNvPr>
          <p:cNvSpPr txBox="1"/>
          <p:nvPr/>
        </p:nvSpPr>
        <p:spPr>
          <a:xfrm>
            <a:off x="-12183" y="2964962"/>
            <a:ext cx="756666" cy="276999"/>
          </a:xfrm>
          <a:prstGeom prst="rect">
            <a:avLst/>
          </a:prstGeom>
          <a:solidFill>
            <a:srgbClr val="020817"/>
          </a:solidFill>
        </p:spPr>
        <p:txBody>
          <a:bodyPr wrap="square" rtlCol="0">
            <a:spAutoFit/>
          </a:bodyPr>
          <a:lstStyle/>
          <a:p>
            <a:r>
              <a:rPr lang="tr-TR" sz="1200" b="1"/>
              <a:t>Asilar.txt</a:t>
            </a:r>
            <a:endParaRPr lang="en-US" sz="12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BA01F2-3F6E-3522-B3C7-74D1395F3198}"/>
              </a:ext>
            </a:extLst>
          </p:cNvPr>
          <p:cNvSpPr txBox="1"/>
          <p:nvPr/>
        </p:nvSpPr>
        <p:spPr>
          <a:xfrm>
            <a:off x="0" y="4474600"/>
            <a:ext cx="1563624" cy="400110"/>
          </a:xfrm>
          <a:prstGeom prst="rect">
            <a:avLst/>
          </a:prstGeom>
          <a:solidFill>
            <a:srgbClr val="020817"/>
          </a:solidFill>
        </p:spPr>
        <p:txBody>
          <a:bodyPr wrap="square" rtlCol="0">
            <a:spAutoFit/>
          </a:bodyPr>
          <a:lstStyle/>
          <a:p>
            <a:r>
              <a:rPr lang="tr-TR" sz="1000"/>
              <a:t>Aşı daha önce </a:t>
            </a:r>
            <a:r>
              <a:rPr lang="tr-TR" sz="1000" b="1"/>
              <a:t>asiKaydi dizisine </a:t>
            </a:r>
            <a:r>
              <a:rPr lang="tr-TR" sz="1000"/>
              <a:t>kaydedildi mi ?</a:t>
            </a:r>
            <a:endParaRPr lang="en-US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BFB9D4-D9C7-A012-D650-C9B7AE1F7285}"/>
              </a:ext>
            </a:extLst>
          </p:cNvPr>
          <p:cNvSpPr txBox="1"/>
          <p:nvPr/>
        </p:nvSpPr>
        <p:spPr>
          <a:xfrm>
            <a:off x="11231880" y="1507801"/>
            <a:ext cx="1682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/>
              <a:t>zorunlu.txt</a:t>
            </a:r>
            <a:endParaRPr lang="en-US" sz="14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BDF4BB-62C5-D348-2100-C55349D68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190" y="2505456"/>
            <a:ext cx="6325436" cy="20665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A47B38-3882-8DBC-BA3C-CDBCEC00ECE2}"/>
              </a:ext>
            </a:extLst>
          </p:cNvPr>
          <p:cNvSpPr txBox="1"/>
          <p:nvPr/>
        </p:nvSpPr>
        <p:spPr>
          <a:xfrm>
            <a:off x="3381000" y="1746501"/>
            <a:ext cx="5417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>
                <a:latin typeface="Book Antiqua" panose="02040602050305030304" pitchFamily="18" charset="0"/>
              </a:rPr>
              <a:t>Akış şeması ve asiBul fonksiyonu</a:t>
            </a:r>
            <a:endParaRPr lang="en-US" sz="2400" b="1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720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B125BF2-41EE-B382-206C-C85E54A27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7F143D7-EDFF-DA3C-D321-976E8F6C4120}"/>
              </a:ext>
            </a:extLst>
          </p:cNvPr>
          <p:cNvSpPr/>
          <p:nvPr/>
        </p:nvSpPr>
        <p:spPr>
          <a:xfrm>
            <a:off x="8323328" y="4133088"/>
            <a:ext cx="1435608" cy="2249424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AA24CF-DFB7-0D38-7223-8E990A297FDB}"/>
              </a:ext>
            </a:extLst>
          </p:cNvPr>
          <p:cNvSpPr txBox="1"/>
          <p:nvPr/>
        </p:nvSpPr>
        <p:spPr>
          <a:xfrm>
            <a:off x="8428484" y="4189726"/>
            <a:ext cx="1225296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sz="1400" b="1">
                <a:solidFill>
                  <a:schemeClr val="bg1"/>
                </a:solidFill>
              </a:rPr>
              <a:t>zorunlu.txt</a:t>
            </a:r>
          </a:p>
          <a:p>
            <a:endParaRPr lang="tr-TR" sz="1200" b="1">
              <a:solidFill>
                <a:schemeClr val="bg1"/>
              </a:solidFill>
            </a:endParaRPr>
          </a:p>
          <a:p>
            <a:r>
              <a:rPr lang="tr-TR" sz="1300">
                <a:solidFill>
                  <a:schemeClr val="bg1"/>
                </a:solidFill>
              </a:rPr>
              <a:t>HepatitB 3</a:t>
            </a:r>
          </a:p>
          <a:p>
            <a:r>
              <a:rPr lang="tr-TR" sz="1300">
                <a:solidFill>
                  <a:schemeClr val="bg1"/>
                </a:solidFill>
              </a:rPr>
              <a:t>BCG 1</a:t>
            </a:r>
          </a:p>
          <a:p>
            <a:r>
              <a:rPr lang="tr-TR" sz="1200" b="1">
                <a:solidFill>
                  <a:schemeClr val="bg1"/>
                </a:solidFill>
              </a:rPr>
              <a:t>...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38ADA-7384-EB37-8AAD-26F64946647B}"/>
              </a:ext>
            </a:extLst>
          </p:cNvPr>
          <p:cNvSpPr/>
          <p:nvPr/>
        </p:nvSpPr>
        <p:spPr>
          <a:xfrm>
            <a:off x="10111740" y="4133088"/>
            <a:ext cx="1435608" cy="2249424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C6098D-AA04-C7DD-F115-019CC457F1A6}"/>
              </a:ext>
            </a:extLst>
          </p:cNvPr>
          <p:cNvSpPr txBox="1"/>
          <p:nvPr/>
        </p:nvSpPr>
        <p:spPr>
          <a:xfrm>
            <a:off x="10216896" y="4180582"/>
            <a:ext cx="1225296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sz="1400" b="1">
                <a:solidFill>
                  <a:schemeClr val="bg1"/>
                </a:solidFill>
              </a:rPr>
              <a:t>dozlar.txt</a:t>
            </a:r>
          </a:p>
          <a:p>
            <a:endParaRPr lang="tr-TR" sz="1200" b="1">
              <a:solidFill>
                <a:schemeClr val="bg1"/>
              </a:solidFill>
            </a:endParaRPr>
          </a:p>
          <a:p>
            <a:r>
              <a:rPr lang="tr-TR" sz="1300">
                <a:solidFill>
                  <a:schemeClr val="bg1"/>
                </a:solidFill>
              </a:rPr>
              <a:t>HepatitB 3 +</a:t>
            </a:r>
          </a:p>
          <a:p>
            <a:r>
              <a:rPr lang="tr-TR" sz="1300">
                <a:solidFill>
                  <a:schemeClr val="bg1"/>
                </a:solidFill>
              </a:rPr>
              <a:t>BCG 1 +</a:t>
            </a:r>
          </a:p>
          <a:p>
            <a:r>
              <a:rPr lang="tr-TR" sz="1200" b="1">
                <a:solidFill>
                  <a:schemeClr val="bg1"/>
                </a:solidFill>
              </a:rPr>
              <a:t>...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FEB5D30-7335-067E-60B4-D0FF67CBC5E8}"/>
              </a:ext>
            </a:extLst>
          </p:cNvPr>
          <p:cNvSpPr/>
          <p:nvPr/>
        </p:nvSpPr>
        <p:spPr>
          <a:xfrm>
            <a:off x="9485375" y="5052060"/>
            <a:ext cx="626365" cy="42976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0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6DA6-9620-DFDE-9395-930955875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61496"/>
            <a:ext cx="7635240" cy="1456267"/>
          </a:xfrm>
        </p:spPr>
        <p:txBody>
          <a:bodyPr>
            <a:noAutofit/>
          </a:bodyPr>
          <a:lstStyle/>
          <a:p>
            <a:r>
              <a:rPr lang="tr-TR" b="1">
                <a:latin typeface="Candara" panose="020E0502030303020204" pitchFamily="34" charset="0"/>
              </a:rPr>
              <a:t>Dinlediğiniz için teşekkür ederiz</a:t>
            </a:r>
            <a:endParaRPr lang="en-US" b="1">
              <a:latin typeface="Candara" panose="020E05020303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5D7DB-6A91-3C9D-2A6D-0772CEDA8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187" y="2410254"/>
            <a:ext cx="4286250" cy="4286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E988D6-D849-2925-F2BA-DDD2A59F1C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42" r="21320"/>
          <a:stretch>
            <a:fillRect/>
          </a:stretch>
        </p:blipFill>
        <p:spPr>
          <a:xfrm>
            <a:off x="5338382" y="1281214"/>
            <a:ext cx="1014984" cy="98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218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</TotalTime>
  <Words>273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Book Antiqua</vt:lpstr>
      <vt:lpstr>Calibri</vt:lpstr>
      <vt:lpstr>Calibri Light</vt:lpstr>
      <vt:lpstr>Candara</vt:lpstr>
      <vt:lpstr>Celestial</vt:lpstr>
      <vt:lpstr>BMT103 ALGORİTMA  VE  PROGRAMLAMAYA GİRİŞ  PROJE SUNUMU </vt:lpstr>
      <vt:lpstr>Proje konusu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Dinlediğiniz için teşekkür ederiz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Furkan YALCIN</dc:creator>
  <cp:lastModifiedBy>Furkan YALCIN</cp:lastModifiedBy>
  <cp:revision>11</cp:revision>
  <dcterms:created xsi:type="dcterms:W3CDTF">2025-12-20T16:05:11Z</dcterms:created>
  <dcterms:modified xsi:type="dcterms:W3CDTF">2025-12-24T04:26:17Z</dcterms:modified>
</cp:coreProperties>
</file>